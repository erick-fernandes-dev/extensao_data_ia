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notesMasterIdLst>
    <p:notesMasterId r:id="rId5"/>
  </p:notesMasterIdLst>
  <p:handoutMasterIdLst>
    <p:handoutMasterId r:id="rId6"/>
  </p:handoutMasterIdLst>
  <p:sldIdLst>
    <p:sldId id="256" r:id="rId2"/>
    <p:sldId id="257" r:id="rId3"/>
    <p:sldId id="258" r:id="rId4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5AD47-48E9-CC21-004F-8A427E980104}" v="89" dt="2022-10-20T14:07:13.609"/>
    <p1510:client id="{3A95AA88-D723-4A39-1EF1-32066951F83D}" v="100" dt="2022-10-20T13:53:10.288"/>
    <p1510:client id="{A22D746B-6C8D-491B-1E0C-B553209A0425}" v="26" dt="2022-10-20T13:36:52.884"/>
    <p1510:client id="{AD686383-6970-C63D-1F7B-5FCEFAC2D1FA}" v="44" dt="2022-10-20T13:40:38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0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420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824C2A0-FDD0-411A-B647-E71064E15F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427CB29-B5B5-4B15-B330-9159EEA444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4278F-B3D4-4DC3-B74B-83945B015DB5}" type="datetimeFigureOut">
              <a:rPr lang="pt-BR" smtClean="0"/>
              <a:t>20/10/2022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1E6604-3CC7-4E0D-86DD-A624975C3A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34DBCB-BA06-4593-82E6-7B5C1E724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C3A50-04DF-4F3A-A63B-3FBE92DAE0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22725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5FB877-3C48-4DCD-89D4-4BF86E58A381}" type="datetimeFigureOut">
              <a:rPr lang="pt-BR" noProof="0" smtClean="0"/>
              <a:t>20/10/2022</a:t>
            </a:fld>
            <a:endParaRPr lang="pt-BR" noProof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28550-9035-4397-9E5E-3BE58282F1B7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3740739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28550-9035-4397-9E5E-3BE58282F1B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414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1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0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439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58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58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062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0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0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6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0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0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783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049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373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1851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3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69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wildlife.org/species/directory" TargetMode="External"/><Relationship Id="rId2" Type="http://schemas.openxmlformats.org/officeDocument/2006/relationships/hyperlink" Target="https://www.worldwildlife.or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5A92FE9-DB05-4D0D-AF5A-BE8664B9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D9B26A-5143-49A7-BA98-D871D5BD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1"/>
            <a:ext cx="5014912" cy="6857999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8B85E55-A2A1-4682-B891-F201358A9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5EF6EDB-9B5D-49E9-96FA-1AE08BF95E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338226-D6E2-4EEE-B271-DB4BD096D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78FB48-17B3-4A11-8025-DE0945CD4E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150A21C-DD6D-4D3C-9E95-7A3CA263B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505BF04-104D-4180-A284-42FCD6B04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18190" y="924232"/>
            <a:ext cx="8896865" cy="2223077"/>
          </a:xfrm>
        </p:spPr>
        <p:txBody>
          <a:bodyPr rtlCol="0">
            <a:normAutofit/>
          </a:bodyPr>
          <a:lstStyle/>
          <a:p>
            <a:pPr algn="l"/>
            <a:r>
              <a:rPr lang="pt-BR" sz="6600" dirty="0" err="1"/>
              <a:t>Lab</a:t>
            </a:r>
            <a:r>
              <a:rPr lang="pt-BR" sz="6600" dirty="0"/>
              <a:t> 09 – Web </a:t>
            </a:r>
            <a:r>
              <a:rPr lang="pt-BR" sz="6600" dirty="0" err="1"/>
              <a:t>Scraping</a:t>
            </a:r>
            <a:endParaRPr lang="pt-BR" sz="660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58295" y="3488203"/>
            <a:ext cx="7057755" cy="1264400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pt-BR" sz="2800" dirty="0">
                <a:ea typeface="+mn-lt"/>
                <a:cs typeface="+mn-lt"/>
              </a:rPr>
              <a:t>Extração, Armazenamento e Análise com Web </a:t>
            </a:r>
          </a:p>
          <a:p>
            <a:pPr algn="l"/>
            <a:r>
              <a:rPr lang="pt-BR" sz="2800" dirty="0" err="1">
                <a:ea typeface="+mn-lt"/>
                <a:cs typeface="+mn-lt"/>
              </a:rPr>
              <a:t>Scraping</a:t>
            </a:r>
            <a:r>
              <a:rPr lang="pt-BR" sz="2800" dirty="0">
                <a:ea typeface="+mn-lt"/>
                <a:cs typeface="+mn-lt"/>
              </a:rPr>
              <a:t>, Banco de Dados e Linguagem SQL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44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01278-4FC4-1895-ED3B-93E90CE3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786" y="274722"/>
            <a:ext cx="10434132" cy="1913020"/>
          </a:xfrm>
        </p:spPr>
        <p:txBody>
          <a:bodyPr>
            <a:normAutofit/>
          </a:bodyPr>
          <a:lstStyle/>
          <a:p>
            <a:r>
              <a:rPr lang="pt-BR" sz="3600" dirty="0" err="1"/>
              <a:t>Lab</a:t>
            </a:r>
            <a:r>
              <a:rPr lang="pt-BR" sz="3600" dirty="0"/>
              <a:t> 09 - Coleta de Dados e Análise Estatística </a:t>
            </a:r>
            <a:r>
              <a:rPr lang="pt-BR" sz="3600" dirty="0">
                <a:ea typeface="+mj-lt"/>
                <a:cs typeface="+mj-lt"/>
              </a:rPr>
              <a:t>Extração, Armazenamento e Análise com Web </a:t>
            </a:r>
            <a:endParaRPr lang="pt-BR" sz="3600">
              <a:ea typeface="+mj-lt"/>
              <a:cs typeface="+mj-lt"/>
            </a:endParaRPr>
          </a:p>
          <a:p>
            <a:r>
              <a:rPr lang="pt-BR" sz="3600" dirty="0" err="1">
                <a:ea typeface="+mj-lt"/>
                <a:cs typeface="+mj-lt"/>
              </a:rPr>
              <a:t>Scraping</a:t>
            </a:r>
            <a:r>
              <a:rPr lang="pt-BR" sz="3600" dirty="0">
                <a:ea typeface="+mj-lt"/>
                <a:cs typeface="+mj-lt"/>
              </a:rPr>
              <a:t>, Banco de Dados e Linguagem SQL.</a:t>
            </a:r>
            <a:endParaRPr lang="pt-BR" sz="3600" dirty="0"/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DE44D911-A6F5-54F9-EF87-BB7D0C22F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807367"/>
            <a:ext cx="10359607" cy="3495174"/>
          </a:xfrm>
        </p:spPr>
        <p:txBody>
          <a:bodyPr>
            <a:normAutofit/>
          </a:bodyPr>
          <a:lstStyle/>
          <a:p>
            <a:r>
              <a:rPr lang="pt-BR" sz="2800" dirty="0">
                <a:ea typeface="+mn-lt"/>
                <a:cs typeface="+mn-lt"/>
              </a:rPr>
              <a:t>Ao extrair dados de web sites estamos extraindo dados não estruturados, o que dificulta qualquer tipo de análise.</a:t>
            </a:r>
            <a:endParaRPr lang="pt-BR" sz="2800" dirty="0"/>
          </a:p>
          <a:p>
            <a:pPr>
              <a:buClr>
                <a:srgbClr val="8D1515"/>
              </a:buClr>
            </a:pPr>
            <a:r>
              <a:rPr lang="pt-BR" sz="2800" dirty="0">
                <a:ea typeface="+mn-lt"/>
                <a:cs typeface="+mn-lt"/>
              </a:rPr>
              <a:t>Neste </a:t>
            </a:r>
            <a:r>
              <a:rPr lang="pt-BR" sz="2800" dirty="0" err="1">
                <a:ea typeface="+mn-lt"/>
                <a:cs typeface="+mn-lt"/>
              </a:rPr>
              <a:t>Lab</a:t>
            </a:r>
            <a:r>
              <a:rPr lang="pt-BR" sz="2800" dirty="0">
                <a:ea typeface="+mn-lt"/>
                <a:cs typeface="+mn-lt"/>
              </a:rPr>
              <a:t>, vamos extrair os dados de uma página web, formatá-los em </a:t>
            </a:r>
            <a:r>
              <a:rPr lang="pt-BR" sz="2800" dirty="0" err="1">
                <a:ea typeface="+mn-lt"/>
                <a:cs typeface="+mn-lt"/>
              </a:rPr>
              <a:t>xml</a:t>
            </a:r>
            <a:r>
              <a:rPr lang="pt-BR" sz="2800" dirty="0">
                <a:ea typeface="+mn-lt"/>
                <a:cs typeface="+mn-lt"/>
              </a:rPr>
              <a:t> e armazenar em um banco de dados estruturado. Uma vez armazenados os dados, usaremos a Linguagem SQL para manipulação e análise dos dados.</a:t>
            </a:r>
            <a:endParaRPr lang="pt-BR" sz="2800" dirty="0"/>
          </a:p>
          <a:p>
            <a:pPr>
              <a:buClr>
                <a:srgbClr val="8D1515"/>
              </a:buClr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57613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901278-4FC4-1895-ED3B-93E90CE3E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839" y="274722"/>
            <a:ext cx="10173448" cy="1832809"/>
          </a:xfrm>
        </p:spPr>
        <p:txBody>
          <a:bodyPr>
            <a:normAutofit/>
          </a:bodyPr>
          <a:lstStyle/>
          <a:p>
            <a:r>
              <a:rPr lang="pt-BR" sz="3600" dirty="0" err="1"/>
              <a:t>Lab</a:t>
            </a:r>
            <a:r>
              <a:rPr lang="pt-BR" sz="3600" dirty="0"/>
              <a:t> 09 - Coleta de Dados e Análise Estatística </a:t>
            </a:r>
            <a:r>
              <a:rPr lang="pt-BR" sz="3600" dirty="0">
                <a:ea typeface="+mj-lt"/>
                <a:cs typeface="+mj-lt"/>
              </a:rPr>
              <a:t>Extração, Armazenamento e Análise com Web </a:t>
            </a:r>
          </a:p>
          <a:p>
            <a:r>
              <a:rPr lang="pt-BR" sz="3600" dirty="0" err="1">
                <a:ea typeface="+mj-lt"/>
                <a:cs typeface="+mj-lt"/>
              </a:rPr>
              <a:t>Scraping</a:t>
            </a:r>
            <a:r>
              <a:rPr lang="pt-BR" sz="3600" dirty="0">
                <a:ea typeface="+mj-lt"/>
                <a:cs typeface="+mj-lt"/>
              </a:rPr>
              <a:t>, Banco de Dados e Linguagem SQL.</a:t>
            </a:r>
            <a:endParaRPr lang="pt-BR" sz="3600" dirty="0"/>
          </a:p>
        </p:txBody>
      </p:sp>
      <p:sp>
        <p:nvSpPr>
          <p:cNvPr id="25" name="Espaço Reservado para Conteúdo 24">
            <a:extLst>
              <a:ext uri="{FF2B5EF4-FFF2-40B4-BE49-F238E27FC236}">
                <a16:creationId xmlns:a16="http://schemas.microsoft.com/office/drawing/2014/main" id="{DE44D911-A6F5-54F9-EF87-BB7D0C22F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678" y="2476500"/>
            <a:ext cx="10419765" cy="4377489"/>
          </a:xfrm>
        </p:spPr>
        <p:txBody>
          <a:bodyPr>
            <a:normAutofit fontScale="92500" lnSpcReduction="10000"/>
          </a:bodyPr>
          <a:lstStyle/>
          <a:p>
            <a:pPr>
              <a:buClr>
                <a:srgbClr val="8D1515"/>
              </a:buClr>
            </a:pPr>
            <a:r>
              <a:rPr lang="pt-BR" dirty="0">
                <a:ea typeface="+mn-lt"/>
                <a:cs typeface="+mn-lt"/>
              </a:rPr>
              <a:t>Como nosso </a:t>
            </a:r>
            <a:r>
              <a:rPr lang="pt-BR" b="1" dirty="0">
                <a:ea typeface="+mn-lt"/>
                <a:cs typeface="+mn-lt"/>
              </a:rPr>
              <a:t>objetivo final</a:t>
            </a:r>
            <a:r>
              <a:rPr lang="pt-BR" dirty="0">
                <a:ea typeface="+mn-lt"/>
                <a:cs typeface="+mn-lt"/>
              </a:rPr>
              <a:t> é a análise e não o armazenamento, vamos criar o banco de dados na memória do computador, disponível somente em tempo de execução. Nenhum dado será armazenado em disco. Essa é uma forma rápida, eficiente e profissional de analisar dados extraídos de web sites sem a necessidade de um Pipeline de armazenamento.</a:t>
            </a:r>
            <a:endParaRPr lang="pt-BR" dirty="0"/>
          </a:p>
          <a:p>
            <a:pPr>
              <a:buClr>
                <a:srgbClr val="8D1515"/>
              </a:buClr>
            </a:pPr>
            <a:r>
              <a:rPr lang="pt-BR" b="1" dirty="0">
                <a:ea typeface="+mn-lt"/>
                <a:cs typeface="+mn-lt"/>
              </a:rPr>
              <a:t>Fonte de Dados:</a:t>
            </a:r>
            <a:endParaRPr lang="pt-BR" b="1" dirty="0"/>
          </a:p>
          <a:p>
            <a:pPr>
              <a:buClr>
                <a:srgbClr val="8D1515"/>
              </a:buClr>
            </a:pPr>
            <a:r>
              <a:rPr lang="pt-BR" dirty="0">
                <a:ea typeface="+mn-lt"/>
                <a:cs typeface="+mn-lt"/>
              </a:rPr>
              <a:t>Nossa fonte de dados será o web site </a:t>
            </a:r>
            <a:r>
              <a:rPr lang="pt-BR" dirty="0">
                <a:ea typeface="+mn-lt"/>
                <a:cs typeface="+mn-lt"/>
                <a:hlinkClick r:id="rId2"/>
              </a:rPr>
              <a:t>https://www.worldwildlife.org</a:t>
            </a:r>
            <a:r>
              <a:rPr lang="pt-BR" dirty="0">
                <a:ea typeface="+mn-lt"/>
                <a:cs typeface="+mn-lt"/>
              </a:rPr>
              <a:t>. Navegue pela página:</a:t>
            </a:r>
            <a:endParaRPr lang="pt-BR" dirty="0"/>
          </a:p>
          <a:p>
            <a:pPr>
              <a:buClr>
                <a:srgbClr val="8D1515"/>
              </a:buClr>
            </a:pPr>
            <a:r>
              <a:rPr lang="pt-BR" dirty="0">
                <a:ea typeface="+mn-lt"/>
                <a:cs typeface="+mn-lt"/>
                <a:hlinkClick r:id="rId3"/>
              </a:rPr>
              <a:t>https://www.worldwildlife.org/species/directory</a:t>
            </a:r>
            <a:endParaRPr lang="pt-BR"/>
          </a:p>
          <a:p>
            <a:pPr>
              <a:buClr>
                <a:srgbClr val="8D1515"/>
              </a:buClr>
            </a:pPr>
            <a:r>
              <a:rPr lang="pt-BR" dirty="0">
                <a:ea typeface="+mn-lt"/>
                <a:cs typeface="+mn-lt"/>
              </a:rPr>
              <a:t>Visualize o código fonte e compreenda os dados que serão extraídos das 3 colunas com informações sobre animais.</a:t>
            </a:r>
            <a:endParaRPr lang="pt-BR" dirty="0"/>
          </a:p>
          <a:p>
            <a:pPr>
              <a:buClr>
                <a:srgbClr val="8D1515"/>
              </a:buClr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1900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TM00001032</Template>
  <TotalTime>0</TotalTime>
  <Words>1</Words>
  <Application>Microsoft Office PowerPoint</Application>
  <PresentationFormat>Widescreen</PresentationFormat>
  <Paragraphs>1</Paragraphs>
  <Slides>3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Parallax</vt:lpstr>
      <vt:lpstr>Lab 09 – Web Scraping</vt:lpstr>
      <vt:lpstr>Lab 09 - Coleta de Dados e Análise Estatística Extração, Armazenamento e Análise com Web  Scraping, Banco de Dados e Linguagem SQL.</vt:lpstr>
      <vt:lpstr>Lab 09 - Coleta de Dados e Análise Estatística Extração, Armazenamento e Análise com Web  Scraping, Banco de Dados e Linguagem SQL.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103</cp:revision>
  <dcterms:created xsi:type="dcterms:W3CDTF">2022-10-20T13:35:51Z</dcterms:created>
  <dcterms:modified xsi:type="dcterms:W3CDTF">2022-10-20T14:23:11Z</dcterms:modified>
</cp:coreProperties>
</file>