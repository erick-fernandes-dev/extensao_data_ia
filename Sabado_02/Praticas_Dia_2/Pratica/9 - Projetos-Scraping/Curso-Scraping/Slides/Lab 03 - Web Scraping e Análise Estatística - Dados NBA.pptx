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95AA88-D723-4A39-1EF1-32066951F83D}" v="100" dt="2022-10-20T13:53:10.288"/>
    <p1510:client id="{A22D746B-6C8D-491B-1E0C-B553209A0425}" v="26" dt="2022-10-20T13:36:52.884"/>
    <p1510:client id="{AD686383-6970-C63D-1F7B-5FCEFAC2D1FA}" v="44" dt="2022-10-20T13:40:38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42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395D4E-260E-4BA8-B6B5-2B2A9846512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7524BBC-42E6-4282-9879-189052C56B7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A Ciência de Dados está em todos os lugares. Se há dados disponíveis, podemos extrair, analisar e gerar insights poderosos. E no esporte não seria diferente.</a:t>
          </a:r>
          <a:endParaRPr lang="en-US"/>
        </a:p>
      </dgm:t>
    </dgm:pt>
    <dgm:pt modelId="{6E000A41-C96E-4C6D-B16F-BE63330D634D}" type="parTrans" cxnId="{EA2F2ADD-482B-4352-9EF1-372FBD6B40F9}">
      <dgm:prSet/>
      <dgm:spPr/>
      <dgm:t>
        <a:bodyPr/>
        <a:lstStyle/>
        <a:p>
          <a:endParaRPr lang="en-US"/>
        </a:p>
      </dgm:t>
    </dgm:pt>
    <dgm:pt modelId="{EAB42E7C-0BD4-49C4-BCF5-9641A3612024}" type="sibTrans" cxnId="{EA2F2ADD-482B-4352-9EF1-372FBD6B40F9}">
      <dgm:prSet/>
      <dgm:spPr/>
      <dgm:t>
        <a:bodyPr/>
        <a:lstStyle/>
        <a:p>
          <a:endParaRPr lang="en-US"/>
        </a:p>
      </dgm:t>
    </dgm:pt>
    <dgm:pt modelId="{87B96898-0ED7-4AC9-A9E9-9C363CA529C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Cada vez mais gestores de todos os esportes descobrem os benefícios e vantagem competitiva em usar análise de dados para compreender o comportamento dos atletas, melhorar o desempenho, unir atletas com características complementares no mesmo time e muito mais.</a:t>
          </a:r>
          <a:endParaRPr lang="en-US"/>
        </a:p>
      </dgm:t>
    </dgm:pt>
    <dgm:pt modelId="{2115DA99-D457-4D0A-B8A1-AC763F0E1A50}" type="parTrans" cxnId="{8B199282-F4B5-4302-B3B0-B84D95A54D09}">
      <dgm:prSet/>
      <dgm:spPr/>
      <dgm:t>
        <a:bodyPr/>
        <a:lstStyle/>
        <a:p>
          <a:endParaRPr lang="en-US"/>
        </a:p>
      </dgm:t>
    </dgm:pt>
    <dgm:pt modelId="{C2542718-FF2D-4F97-A465-909E29B1DA4F}" type="sibTrans" cxnId="{8B199282-F4B5-4302-B3B0-B84D95A54D09}">
      <dgm:prSet/>
      <dgm:spPr/>
      <dgm:t>
        <a:bodyPr/>
        <a:lstStyle/>
        <a:p>
          <a:endParaRPr lang="en-US"/>
        </a:p>
      </dgm:t>
    </dgm:pt>
    <dgm:pt modelId="{9C356832-22D1-4377-A185-D8F234989031}">
      <dgm:prSet/>
      <dgm:spPr/>
      <dgm:t>
        <a:bodyPr/>
        <a:lstStyle/>
        <a:p>
          <a:pPr>
            <a:lnSpc>
              <a:spcPct val="100000"/>
            </a:lnSpc>
          </a:pPr>
          <a:r>
            <a:rPr lang="pt-BR"/>
            <a:t>Neste Lab, vamos extrair dados reais de atletas da NBA - a Liga de Basquete Norte Americana e analisar os dados.</a:t>
          </a:r>
          <a:endParaRPr lang="en-US"/>
        </a:p>
      </dgm:t>
    </dgm:pt>
    <dgm:pt modelId="{F15802B3-A0D5-4636-B271-CEE4EA345A33}" type="parTrans" cxnId="{5A193A5E-5ADE-42B8-8E4D-D993E5DA2427}">
      <dgm:prSet/>
      <dgm:spPr/>
      <dgm:t>
        <a:bodyPr/>
        <a:lstStyle/>
        <a:p>
          <a:endParaRPr lang="en-US"/>
        </a:p>
      </dgm:t>
    </dgm:pt>
    <dgm:pt modelId="{3B5BE5EB-EB8F-460C-A625-5ADBC4243854}" type="sibTrans" cxnId="{5A193A5E-5ADE-42B8-8E4D-D993E5DA2427}">
      <dgm:prSet/>
      <dgm:spPr/>
      <dgm:t>
        <a:bodyPr/>
        <a:lstStyle/>
        <a:p>
          <a:endParaRPr lang="en-US"/>
        </a:p>
      </dgm:t>
    </dgm:pt>
    <dgm:pt modelId="{5DCAF8BD-1FD6-4380-ABB3-6FE547D0520E}" type="pres">
      <dgm:prSet presAssocID="{DC395D4E-260E-4BA8-B6B5-2B2A9846512E}" presName="root" presStyleCnt="0">
        <dgm:presLayoutVars>
          <dgm:dir/>
          <dgm:resizeHandles val="exact"/>
        </dgm:presLayoutVars>
      </dgm:prSet>
      <dgm:spPr/>
    </dgm:pt>
    <dgm:pt modelId="{5B6FBFF9-8565-4F6D-9384-E5C1481E2A91}" type="pres">
      <dgm:prSet presAssocID="{47524BBC-42E6-4282-9879-189052C56B7E}" presName="compNode" presStyleCnt="0"/>
      <dgm:spPr/>
    </dgm:pt>
    <dgm:pt modelId="{FF25EBB5-F16E-4499-9B4E-2C123647DDDF}" type="pres">
      <dgm:prSet presAssocID="{47524BBC-42E6-4282-9879-189052C56B7E}" presName="bgRect" presStyleLbl="bgShp" presStyleIdx="0" presStyleCnt="3"/>
      <dgm:spPr/>
    </dgm:pt>
    <dgm:pt modelId="{4AB460D0-AFD6-499B-9375-07DE6F21569D}" type="pres">
      <dgm:prSet presAssocID="{47524BBC-42E6-4282-9879-189052C56B7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32FC29C0-D258-4BCA-9BEA-8AC5C7F6322C}" type="pres">
      <dgm:prSet presAssocID="{47524BBC-42E6-4282-9879-189052C56B7E}" presName="spaceRect" presStyleCnt="0"/>
      <dgm:spPr/>
    </dgm:pt>
    <dgm:pt modelId="{AD87872C-B7BB-4DFF-AA55-5558A4EE6624}" type="pres">
      <dgm:prSet presAssocID="{47524BBC-42E6-4282-9879-189052C56B7E}" presName="parTx" presStyleLbl="revTx" presStyleIdx="0" presStyleCnt="3">
        <dgm:presLayoutVars>
          <dgm:chMax val="0"/>
          <dgm:chPref val="0"/>
        </dgm:presLayoutVars>
      </dgm:prSet>
      <dgm:spPr/>
    </dgm:pt>
    <dgm:pt modelId="{371BD150-EA53-42B7-B800-5207CEA9D7A4}" type="pres">
      <dgm:prSet presAssocID="{EAB42E7C-0BD4-49C4-BCF5-9641A3612024}" presName="sibTrans" presStyleCnt="0"/>
      <dgm:spPr/>
    </dgm:pt>
    <dgm:pt modelId="{9B5E98FD-AB89-45D9-B008-3E1E8B362CBB}" type="pres">
      <dgm:prSet presAssocID="{87B96898-0ED7-4AC9-A9E9-9C363CA529CF}" presName="compNode" presStyleCnt="0"/>
      <dgm:spPr/>
    </dgm:pt>
    <dgm:pt modelId="{04DC26E0-D488-4D20-99E8-0D163F4C845C}" type="pres">
      <dgm:prSet presAssocID="{87B96898-0ED7-4AC9-A9E9-9C363CA529CF}" presName="bgRect" presStyleLbl="bgShp" presStyleIdx="1" presStyleCnt="3"/>
      <dgm:spPr/>
    </dgm:pt>
    <dgm:pt modelId="{BC899C1E-9E96-4F3E-A5F0-9AB6A348ABA3}" type="pres">
      <dgm:prSet presAssocID="{87B96898-0ED7-4AC9-A9E9-9C363CA529C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68134277-AEF6-404F-A27C-1CD5BCD512A2}" type="pres">
      <dgm:prSet presAssocID="{87B96898-0ED7-4AC9-A9E9-9C363CA529CF}" presName="spaceRect" presStyleCnt="0"/>
      <dgm:spPr/>
    </dgm:pt>
    <dgm:pt modelId="{EC2F420D-5DAA-4851-8019-6C61952B1165}" type="pres">
      <dgm:prSet presAssocID="{87B96898-0ED7-4AC9-A9E9-9C363CA529CF}" presName="parTx" presStyleLbl="revTx" presStyleIdx="1" presStyleCnt="3">
        <dgm:presLayoutVars>
          <dgm:chMax val="0"/>
          <dgm:chPref val="0"/>
        </dgm:presLayoutVars>
      </dgm:prSet>
      <dgm:spPr/>
    </dgm:pt>
    <dgm:pt modelId="{3370B95B-41E0-48FC-80F1-7017689007A5}" type="pres">
      <dgm:prSet presAssocID="{C2542718-FF2D-4F97-A465-909E29B1DA4F}" presName="sibTrans" presStyleCnt="0"/>
      <dgm:spPr/>
    </dgm:pt>
    <dgm:pt modelId="{F317B17A-254B-4604-A4A0-CE07E6EA3CD0}" type="pres">
      <dgm:prSet presAssocID="{9C356832-22D1-4377-A185-D8F234989031}" presName="compNode" presStyleCnt="0"/>
      <dgm:spPr/>
    </dgm:pt>
    <dgm:pt modelId="{2C86AECD-55F9-4C81-A16E-73BB962C35C8}" type="pres">
      <dgm:prSet presAssocID="{9C356832-22D1-4377-A185-D8F234989031}" presName="bgRect" presStyleLbl="bgShp" presStyleIdx="2" presStyleCnt="3"/>
      <dgm:spPr/>
    </dgm:pt>
    <dgm:pt modelId="{70250663-BB7D-4EC3-8E4F-6B4F54BA8BB2}" type="pres">
      <dgm:prSet presAssocID="{9C356832-22D1-4377-A185-D8F23498903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96409BF2-F878-4E01-98FE-F30D9BCDB05B}" type="pres">
      <dgm:prSet presAssocID="{9C356832-22D1-4377-A185-D8F234989031}" presName="spaceRect" presStyleCnt="0"/>
      <dgm:spPr/>
    </dgm:pt>
    <dgm:pt modelId="{EDD9DB92-E50F-4FA1-9267-F6D1EBCC54C9}" type="pres">
      <dgm:prSet presAssocID="{9C356832-22D1-4377-A185-D8F23498903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69D1D0D-8BF8-409B-8293-AE20717B502B}" type="presOf" srcId="{87B96898-0ED7-4AC9-A9E9-9C363CA529CF}" destId="{EC2F420D-5DAA-4851-8019-6C61952B1165}" srcOrd="0" destOrd="0" presId="urn:microsoft.com/office/officeart/2018/2/layout/IconVerticalSolidList"/>
    <dgm:cxn modelId="{5A193A5E-5ADE-42B8-8E4D-D993E5DA2427}" srcId="{DC395D4E-260E-4BA8-B6B5-2B2A9846512E}" destId="{9C356832-22D1-4377-A185-D8F234989031}" srcOrd="2" destOrd="0" parTransId="{F15802B3-A0D5-4636-B271-CEE4EA345A33}" sibTransId="{3B5BE5EB-EB8F-460C-A625-5ADBC4243854}"/>
    <dgm:cxn modelId="{8B199282-F4B5-4302-B3B0-B84D95A54D09}" srcId="{DC395D4E-260E-4BA8-B6B5-2B2A9846512E}" destId="{87B96898-0ED7-4AC9-A9E9-9C363CA529CF}" srcOrd="1" destOrd="0" parTransId="{2115DA99-D457-4D0A-B8A1-AC763F0E1A50}" sibTransId="{C2542718-FF2D-4F97-A465-909E29B1DA4F}"/>
    <dgm:cxn modelId="{AF9F6A91-2149-449E-9A38-A276E0888B15}" type="presOf" srcId="{DC395D4E-260E-4BA8-B6B5-2B2A9846512E}" destId="{5DCAF8BD-1FD6-4380-ABB3-6FE547D0520E}" srcOrd="0" destOrd="0" presId="urn:microsoft.com/office/officeart/2018/2/layout/IconVerticalSolidList"/>
    <dgm:cxn modelId="{03A46DC8-CEAF-4319-95DB-293D7B90B950}" type="presOf" srcId="{9C356832-22D1-4377-A185-D8F234989031}" destId="{EDD9DB92-E50F-4FA1-9267-F6D1EBCC54C9}" srcOrd="0" destOrd="0" presId="urn:microsoft.com/office/officeart/2018/2/layout/IconVerticalSolidList"/>
    <dgm:cxn modelId="{E9C2BDDC-91B7-4641-A9CA-9A39E508FC6E}" type="presOf" srcId="{47524BBC-42E6-4282-9879-189052C56B7E}" destId="{AD87872C-B7BB-4DFF-AA55-5558A4EE6624}" srcOrd="0" destOrd="0" presId="urn:microsoft.com/office/officeart/2018/2/layout/IconVerticalSolidList"/>
    <dgm:cxn modelId="{EA2F2ADD-482B-4352-9EF1-372FBD6B40F9}" srcId="{DC395D4E-260E-4BA8-B6B5-2B2A9846512E}" destId="{47524BBC-42E6-4282-9879-189052C56B7E}" srcOrd="0" destOrd="0" parTransId="{6E000A41-C96E-4C6D-B16F-BE63330D634D}" sibTransId="{EAB42E7C-0BD4-49C4-BCF5-9641A3612024}"/>
    <dgm:cxn modelId="{0F89966E-392B-4739-8E96-DF1FBF8525D2}" type="presParOf" srcId="{5DCAF8BD-1FD6-4380-ABB3-6FE547D0520E}" destId="{5B6FBFF9-8565-4F6D-9384-E5C1481E2A91}" srcOrd="0" destOrd="0" presId="urn:microsoft.com/office/officeart/2018/2/layout/IconVerticalSolidList"/>
    <dgm:cxn modelId="{5A045661-8404-4C7A-AE69-AC562247C8DA}" type="presParOf" srcId="{5B6FBFF9-8565-4F6D-9384-E5C1481E2A91}" destId="{FF25EBB5-F16E-4499-9B4E-2C123647DDDF}" srcOrd="0" destOrd="0" presId="urn:microsoft.com/office/officeart/2018/2/layout/IconVerticalSolidList"/>
    <dgm:cxn modelId="{5AC00A98-0D65-4E14-B58D-0E9D3E98071B}" type="presParOf" srcId="{5B6FBFF9-8565-4F6D-9384-E5C1481E2A91}" destId="{4AB460D0-AFD6-499B-9375-07DE6F21569D}" srcOrd="1" destOrd="0" presId="urn:microsoft.com/office/officeart/2018/2/layout/IconVerticalSolidList"/>
    <dgm:cxn modelId="{4CE3DBC0-859E-466E-B86E-31CD8EC59274}" type="presParOf" srcId="{5B6FBFF9-8565-4F6D-9384-E5C1481E2A91}" destId="{32FC29C0-D258-4BCA-9BEA-8AC5C7F6322C}" srcOrd="2" destOrd="0" presId="urn:microsoft.com/office/officeart/2018/2/layout/IconVerticalSolidList"/>
    <dgm:cxn modelId="{1070CCD1-14DC-4D64-9040-84FA2ED169C5}" type="presParOf" srcId="{5B6FBFF9-8565-4F6D-9384-E5C1481E2A91}" destId="{AD87872C-B7BB-4DFF-AA55-5558A4EE6624}" srcOrd="3" destOrd="0" presId="urn:microsoft.com/office/officeart/2018/2/layout/IconVerticalSolidList"/>
    <dgm:cxn modelId="{ECC20BCC-26A1-4423-BE32-4178E8707A4D}" type="presParOf" srcId="{5DCAF8BD-1FD6-4380-ABB3-6FE547D0520E}" destId="{371BD150-EA53-42B7-B800-5207CEA9D7A4}" srcOrd="1" destOrd="0" presId="urn:microsoft.com/office/officeart/2018/2/layout/IconVerticalSolidList"/>
    <dgm:cxn modelId="{0957B8B5-7B81-4EFA-8B4C-25B9D80DBB3D}" type="presParOf" srcId="{5DCAF8BD-1FD6-4380-ABB3-6FE547D0520E}" destId="{9B5E98FD-AB89-45D9-B008-3E1E8B362CBB}" srcOrd="2" destOrd="0" presId="urn:microsoft.com/office/officeart/2018/2/layout/IconVerticalSolidList"/>
    <dgm:cxn modelId="{4067A0AC-FA3D-4E4F-B45E-0742682E55ED}" type="presParOf" srcId="{9B5E98FD-AB89-45D9-B008-3E1E8B362CBB}" destId="{04DC26E0-D488-4D20-99E8-0D163F4C845C}" srcOrd="0" destOrd="0" presId="urn:microsoft.com/office/officeart/2018/2/layout/IconVerticalSolidList"/>
    <dgm:cxn modelId="{5A4A6939-E2B9-439F-BE2A-A2F82B7A3D06}" type="presParOf" srcId="{9B5E98FD-AB89-45D9-B008-3E1E8B362CBB}" destId="{BC899C1E-9E96-4F3E-A5F0-9AB6A348ABA3}" srcOrd="1" destOrd="0" presId="urn:microsoft.com/office/officeart/2018/2/layout/IconVerticalSolidList"/>
    <dgm:cxn modelId="{067814F6-5EFF-4579-B18C-2ADC5E9785FD}" type="presParOf" srcId="{9B5E98FD-AB89-45D9-B008-3E1E8B362CBB}" destId="{68134277-AEF6-404F-A27C-1CD5BCD512A2}" srcOrd="2" destOrd="0" presId="urn:microsoft.com/office/officeart/2018/2/layout/IconVerticalSolidList"/>
    <dgm:cxn modelId="{3402AA36-497F-4148-9D62-F3F528DAF9EA}" type="presParOf" srcId="{9B5E98FD-AB89-45D9-B008-3E1E8B362CBB}" destId="{EC2F420D-5DAA-4851-8019-6C61952B1165}" srcOrd="3" destOrd="0" presId="urn:microsoft.com/office/officeart/2018/2/layout/IconVerticalSolidList"/>
    <dgm:cxn modelId="{8ACE8C59-DA07-4E68-B11C-92AFAA7B96E1}" type="presParOf" srcId="{5DCAF8BD-1FD6-4380-ABB3-6FE547D0520E}" destId="{3370B95B-41E0-48FC-80F1-7017689007A5}" srcOrd="3" destOrd="0" presId="urn:microsoft.com/office/officeart/2018/2/layout/IconVerticalSolidList"/>
    <dgm:cxn modelId="{694D9451-9693-47ED-879F-3E78704B789F}" type="presParOf" srcId="{5DCAF8BD-1FD6-4380-ABB3-6FE547D0520E}" destId="{F317B17A-254B-4604-A4A0-CE07E6EA3CD0}" srcOrd="4" destOrd="0" presId="urn:microsoft.com/office/officeart/2018/2/layout/IconVerticalSolidList"/>
    <dgm:cxn modelId="{C4AB2525-33D1-4066-A0A7-19FB059BFFBE}" type="presParOf" srcId="{F317B17A-254B-4604-A4A0-CE07E6EA3CD0}" destId="{2C86AECD-55F9-4C81-A16E-73BB962C35C8}" srcOrd="0" destOrd="0" presId="urn:microsoft.com/office/officeart/2018/2/layout/IconVerticalSolidList"/>
    <dgm:cxn modelId="{AB536AF7-6E64-49E6-9851-CC17CD7F9E6B}" type="presParOf" srcId="{F317B17A-254B-4604-A4A0-CE07E6EA3CD0}" destId="{70250663-BB7D-4EC3-8E4F-6B4F54BA8BB2}" srcOrd="1" destOrd="0" presId="urn:microsoft.com/office/officeart/2018/2/layout/IconVerticalSolidList"/>
    <dgm:cxn modelId="{2F14104C-5021-4E34-BCFB-6D4A7E9DC46E}" type="presParOf" srcId="{F317B17A-254B-4604-A4A0-CE07E6EA3CD0}" destId="{96409BF2-F878-4E01-98FE-F30D9BCDB05B}" srcOrd="2" destOrd="0" presId="urn:microsoft.com/office/officeart/2018/2/layout/IconVerticalSolidList"/>
    <dgm:cxn modelId="{31C958CE-9F4C-4CA8-B23C-1769CD1B9D6A}" type="presParOf" srcId="{F317B17A-254B-4604-A4A0-CE07E6EA3CD0}" destId="{EDD9DB92-E50F-4FA1-9267-F6D1EBCC54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5EBB5-F16E-4499-9B4E-2C123647DDDF}">
      <dsp:nvSpPr>
        <dsp:cNvPr id="0" name=""/>
        <dsp:cNvSpPr/>
      </dsp:nvSpPr>
      <dsp:spPr>
        <a:xfrm>
          <a:off x="0" y="378"/>
          <a:ext cx="9742319" cy="8845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460D0-AFD6-499B-9375-07DE6F21569D}">
      <dsp:nvSpPr>
        <dsp:cNvPr id="0" name=""/>
        <dsp:cNvSpPr/>
      </dsp:nvSpPr>
      <dsp:spPr>
        <a:xfrm>
          <a:off x="267572" y="199398"/>
          <a:ext cx="486495" cy="4864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87872C-B7BB-4DFF-AA55-5558A4EE6624}">
      <dsp:nvSpPr>
        <dsp:cNvPr id="0" name=""/>
        <dsp:cNvSpPr/>
      </dsp:nvSpPr>
      <dsp:spPr>
        <a:xfrm>
          <a:off x="1021641" y="378"/>
          <a:ext cx="8720677" cy="884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614" tIns="93614" rIns="93614" bIns="936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A Ciência de Dados está em todos os lugares. Se há dados disponíveis, podemos extrair, analisar e gerar insights poderosos. E no esporte não seria diferente.</a:t>
          </a:r>
          <a:endParaRPr lang="en-US" sz="1400" kern="1200"/>
        </a:p>
      </dsp:txBody>
      <dsp:txXfrm>
        <a:off x="1021641" y="378"/>
        <a:ext cx="8720677" cy="884537"/>
      </dsp:txXfrm>
    </dsp:sp>
    <dsp:sp modelId="{04DC26E0-D488-4D20-99E8-0D163F4C845C}">
      <dsp:nvSpPr>
        <dsp:cNvPr id="0" name=""/>
        <dsp:cNvSpPr/>
      </dsp:nvSpPr>
      <dsp:spPr>
        <a:xfrm>
          <a:off x="0" y="1106050"/>
          <a:ext cx="9742319" cy="8845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899C1E-9E96-4F3E-A5F0-9AB6A348ABA3}">
      <dsp:nvSpPr>
        <dsp:cNvPr id="0" name=""/>
        <dsp:cNvSpPr/>
      </dsp:nvSpPr>
      <dsp:spPr>
        <a:xfrm>
          <a:off x="267572" y="1305071"/>
          <a:ext cx="486495" cy="4864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2F420D-5DAA-4851-8019-6C61952B1165}">
      <dsp:nvSpPr>
        <dsp:cNvPr id="0" name=""/>
        <dsp:cNvSpPr/>
      </dsp:nvSpPr>
      <dsp:spPr>
        <a:xfrm>
          <a:off x="1021641" y="1106050"/>
          <a:ext cx="8720677" cy="884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614" tIns="93614" rIns="93614" bIns="936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Cada vez mais gestores de todos os esportes descobrem os benefícios e vantagem competitiva em usar análise de dados para compreender o comportamento dos atletas, melhorar o desempenho, unir atletas com características complementares no mesmo time e muito mais.</a:t>
          </a:r>
          <a:endParaRPr lang="en-US" sz="1400" kern="1200"/>
        </a:p>
      </dsp:txBody>
      <dsp:txXfrm>
        <a:off x="1021641" y="1106050"/>
        <a:ext cx="8720677" cy="884537"/>
      </dsp:txXfrm>
    </dsp:sp>
    <dsp:sp modelId="{2C86AECD-55F9-4C81-A16E-73BB962C35C8}">
      <dsp:nvSpPr>
        <dsp:cNvPr id="0" name=""/>
        <dsp:cNvSpPr/>
      </dsp:nvSpPr>
      <dsp:spPr>
        <a:xfrm>
          <a:off x="0" y="2211722"/>
          <a:ext cx="9742319" cy="8845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250663-BB7D-4EC3-8E4F-6B4F54BA8BB2}">
      <dsp:nvSpPr>
        <dsp:cNvPr id="0" name=""/>
        <dsp:cNvSpPr/>
      </dsp:nvSpPr>
      <dsp:spPr>
        <a:xfrm>
          <a:off x="267572" y="2410743"/>
          <a:ext cx="486495" cy="4864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9DB92-E50F-4FA1-9267-F6D1EBCC54C9}">
      <dsp:nvSpPr>
        <dsp:cNvPr id="0" name=""/>
        <dsp:cNvSpPr/>
      </dsp:nvSpPr>
      <dsp:spPr>
        <a:xfrm>
          <a:off x="1021641" y="2211722"/>
          <a:ext cx="8720677" cy="8845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614" tIns="93614" rIns="93614" bIns="936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Neste Lab, vamos extrair dados reais de atletas da NBA - a Liga de Basquete Norte Americana e analisar os dados.</a:t>
          </a:r>
          <a:endParaRPr lang="en-US" sz="1400" kern="1200"/>
        </a:p>
      </dsp:txBody>
      <dsp:txXfrm>
        <a:off x="1021641" y="2211722"/>
        <a:ext cx="8720677" cy="884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4C2A0-FDD0-411A-B647-E71064E15F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27CB29-B5B5-4B15-B330-9159EEA444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4278F-B3D4-4DC3-B74B-83945B015DB5}" type="datetimeFigureOut">
              <a:rPr lang="pt-BR" smtClean="0"/>
              <a:t>20/10/2022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1E6604-3CC7-4E0D-86DD-A624975C3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34DBCB-BA06-4593-82E6-7B5C1E724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C3A50-04DF-4F3A-A63B-3FBE92DAE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2725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FB877-3C48-4DCD-89D4-4BF86E58A381}" type="datetimeFigureOut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28550-9035-4397-9E5E-3BE58282F1B7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374073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28550-9035-4397-9E5E-3BE58282F1B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414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1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00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43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58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80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62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0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0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36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5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0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0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783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0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373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185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3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174971" cy="2223077"/>
          </a:xfrm>
        </p:spPr>
        <p:txBody>
          <a:bodyPr rtlCol="0">
            <a:normAutofit/>
          </a:bodyPr>
          <a:lstStyle/>
          <a:p>
            <a:pPr algn="l"/>
            <a:r>
              <a:rPr lang="pt-BR" sz="6600" dirty="0" err="1"/>
              <a:t>Lab</a:t>
            </a:r>
            <a:r>
              <a:rPr lang="pt-BR" sz="6600" dirty="0"/>
              <a:t> 03 – Web </a:t>
            </a:r>
            <a:r>
              <a:rPr lang="pt-BR" sz="6600" dirty="0" err="1"/>
              <a:t>Scraping</a:t>
            </a:r>
            <a:endParaRPr lang="pt-BR" sz="66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58295" y="3488203"/>
            <a:ext cx="7057755" cy="1264400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2000">
                <a:ea typeface="+mn-lt"/>
                <a:cs typeface="+mn-lt"/>
              </a:rPr>
              <a:t>Data Science no Esporte - </a:t>
            </a:r>
            <a:br>
              <a:rPr lang="pt-BR" sz="2000">
                <a:ea typeface="+mn-lt"/>
                <a:cs typeface="+mn-lt"/>
              </a:rPr>
            </a:br>
            <a:r>
              <a:rPr lang="pt-BR" sz="2000">
                <a:ea typeface="+mn-lt"/>
                <a:cs typeface="+mn-lt"/>
              </a:rPr>
              <a:t>Web </a:t>
            </a:r>
            <a:r>
              <a:rPr lang="pt-BR" sz="2000" err="1">
                <a:ea typeface="+mn-lt"/>
                <a:cs typeface="+mn-lt"/>
              </a:rPr>
              <a:t>Scraping</a:t>
            </a:r>
            <a:r>
              <a:rPr lang="pt-BR" sz="2000">
                <a:ea typeface="+mn-lt"/>
                <a:cs typeface="+mn-lt"/>
              </a:rPr>
              <a:t> e  Análise Estatística em </a:t>
            </a:r>
            <a:br>
              <a:rPr lang="pt-BR" sz="2000">
                <a:ea typeface="+mn-lt"/>
                <a:cs typeface="+mn-lt"/>
              </a:rPr>
            </a:br>
            <a:r>
              <a:rPr lang="pt-BR" sz="2000">
                <a:ea typeface="+mn-lt"/>
                <a:cs typeface="+mn-lt"/>
              </a:rPr>
              <a:t>Dados da NBA</a:t>
            </a:r>
            <a:endParaRPr lang="pt-BR" sz="2000"/>
          </a:p>
          <a:p>
            <a:pPr algn="l">
              <a:lnSpc>
                <a:spcPct val="90000"/>
              </a:lnSpc>
            </a:pPr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4144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01278-4FC4-1895-ED3B-93E90CE3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706" y="274722"/>
            <a:ext cx="9742318" cy="216367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dirty="0" err="1"/>
              <a:t>Lab</a:t>
            </a:r>
            <a:r>
              <a:rPr lang="pt-BR" dirty="0"/>
              <a:t> 03 - Coleta de Dados e Análise Estatística com Dados da NBA </a:t>
            </a:r>
            <a:br>
              <a:rPr lang="pt-BR" dirty="0"/>
            </a:br>
            <a:r>
              <a:rPr lang="pt-BR" dirty="0"/>
              <a:t>(Liga de Basquete Norte Americano).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67E89141-9918-7C50-6B36-F76BF33F84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960241"/>
              </p:ext>
            </p:extLst>
          </p:nvPr>
        </p:nvGraphicFramePr>
        <p:xfrm>
          <a:off x="1760705" y="2694562"/>
          <a:ext cx="9742319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61341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TM00001032</Template>
  <TotalTime>0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Parallax</vt:lpstr>
      <vt:lpstr>Lab 03 – Web Scraping</vt:lpstr>
      <vt:lpstr>Lab 03 - Coleta de Dados e Análise Estatística com Dados da NBA  (Liga de Basquete Norte Americano).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57</cp:revision>
  <dcterms:created xsi:type="dcterms:W3CDTF">2022-10-20T13:35:51Z</dcterms:created>
  <dcterms:modified xsi:type="dcterms:W3CDTF">2022-10-20T14:23:03Z</dcterms:modified>
</cp:coreProperties>
</file>